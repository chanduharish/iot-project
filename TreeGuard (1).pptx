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embeddedFontLst>
    <p:embeddedFont>
      <p:font typeface="DM Sans Medium"/>
      <p:regular r:id="rId201314"/>
    </p:embeddedFont>
    <p:embeddedFont>
      <p:font typeface="DM Sans SemiBold"/>
      <p:regular r:id="rId201315"/>
    </p:embeddedFont>
    <p:embeddedFont>
      <p:font typeface="DM Sans Bold"/>
      <p:regular r:id="rId201316"/>
    </p:embeddedFont>
    <p:embeddedFont>
      <p:font typeface="DM Sans Black"/>
      <p:regular r:id="rId201317"/>
    </p:embeddedFont>
    <p:embeddedFont>
      <p:font typeface="Inter Medium"/>
      <p:regular r:id="rId201318"/>
    </p:embeddedFont>
    <p:embeddedFont>
      <p:font typeface="Inter SemiBold"/>
      <p:regular r:id="rId201319"/>
    </p:embeddedFont>
    <p:embeddedFont>
      <p:font typeface="Inter Bold"/>
      <p:regular r:id="rId201320"/>
    </p:embeddedFont>
    <p:embeddedFont>
      <p:font typeface="Inter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image" Target="../media/image-5-5.jpeg"/><Relationship Id="rId6" Type="http://schemas.openxmlformats.org/officeDocument/2006/relationships/image" Target="../media/image-5-6.jpe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image" Target="../media/image-7-2.png"/><Relationship Id="rId9" Type="http://schemas.openxmlformats.org/officeDocument/2006/relationships/image" Target="../media/image-7-3.svg"/><Relationship Id="rId10" Type="http://schemas.openxmlformats.org/officeDocument/2006/relationships/image" Target="../media/image-7-2.png"/><Relationship Id="rId11" Type="http://schemas.openxmlformats.org/officeDocument/2006/relationships/image" Target="../media/image-7-3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image" Target="../media/image-8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1.png"/><Relationship Id="rId4" Type="http://schemas.openxmlformats.org/officeDocument/2006/relationships/image" Target="../media/image-11-2.svg"/><Relationship Id="rId5" Type="http://schemas.openxmlformats.org/officeDocument/2006/relationships/image" Target="../media/image-11-1.png"/><Relationship Id="rId6" Type="http://schemas.openxmlformats.org/officeDocument/2006/relationships/image" Target="../media/image-11-2.svg"/><Relationship Id="rId7" Type="http://schemas.openxmlformats.org/officeDocument/2006/relationships/image" Target="../media/image-11-1.png"/><Relationship Id="rId8" Type="http://schemas.openxmlformats.org/officeDocument/2006/relationships/image" Target="../media/image-11-2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9.png"/><Relationship Id="rId12" Type="http://schemas.openxmlformats.org/officeDocument/2006/relationships/image" Target="../media/image-11-10.svg"/><Relationship Id="rId13" Type="http://schemas.openxmlformats.org/officeDocument/2006/relationships/image" Target="../media/image-11-9.png"/><Relationship Id="rId14" Type="http://schemas.openxmlformats.org/officeDocument/2006/relationships/image" Target="../media/image-11-10.svg"/><Relationship Id="rId15" Type="http://schemas.openxmlformats.org/officeDocument/2006/relationships/image" Target="../media/image-11-9.png"/><Relationship Id="rId16" Type="http://schemas.openxmlformats.org/officeDocument/2006/relationships/image" Target="../media/image-11-10.svg"/><Relationship Id="rId17" Type="http://schemas.openxmlformats.org/officeDocument/2006/relationships/image" Target="../media/image-2-8.pn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94039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TreeGuard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1814513"/>
            <a:ext cx="6906444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IoT-Based Tree Health Monitoring System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2405063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Real-Time Monitoring of Tree Conditions Using IoT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2967335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464646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233360" y="3252589"/>
            <a:ext cx="6296860" cy="184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1·  K. VISHNU VARDHAN REDDY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2·  L. NAGA HARSHITHA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3.  L. SIVA LAKSHMI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4.  CH.HARISH 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233360" y="531276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B.Tech – Department of CSE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· Kalasalingam Academy of Research and Education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776684"/>
            <a:ext cx="910408" cy="229691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52159" y="822027"/>
            <a:ext cx="133862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CHALLENGE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61475" y="1054695"/>
            <a:ext cx="4772898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Problem</a:t>
            </a:r>
            <a:endParaRPr lang="en-US" sz="2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08547"/>
            <a:ext cx="4772898" cy="10846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7928" y="1878806"/>
            <a:ext cx="435618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Manual Inspection Only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907928" y="2187575"/>
            <a:ext cx="435618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Trees are commonly monitored through time-consuming, labor-intensive manual inspection.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914154"/>
            <a:ext cx="4772898" cy="10846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7928" y="3084413"/>
            <a:ext cx="435618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Unnoticed Changes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907928" y="3393182"/>
            <a:ext cx="435618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Shifts in environmental conditions often go undetected between inspection cycles.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119761"/>
            <a:ext cx="4772898" cy="10846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07928" y="4290020"/>
            <a:ext cx="435618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No Continuous Coverage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907928" y="4598789"/>
            <a:ext cx="435618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Early identification of unfavorable conditions is difficult without dedicated resources.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661475" y="5340449"/>
            <a:ext cx="4772898" cy="740767"/>
          </a:xfrm>
          <a:prstGeom prst="roundRect">
            <a:avLst>
              <a:gd name="adj" fmla="val 3062"/>
            </a:avLst>
          </a:prstGeom>
          <a:solidFill>
            <a:srgbClr val="D4F7EC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680" y="5512891"/>
            <a:ext cx="189007" cy="15120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52893" y="5499199"/>
            <a:ext cx="4130274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simple IoT-based system for continuous and remote tree-environment monitoring is needed.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546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Project Objectives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228751"/>
            <a:ext cx="5339820" cy="1693962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2417762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Monitor Continuously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2826445"/>
            <a:ext cx="49618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Measure soil moisture, temperature, humidity, soil temperature, light, rainfall, and air quality — without interruption.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228751"/>
            <a:ext cx="5339919" cy="1693962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379308" y="2417762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Collect &amp; Process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79308" y="2826445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 the ESP32 microcontroller to read sensor data and manage data flow locally.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111724"/>
            <a:ext cx="5339820" cy="139154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850482" y="4300736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Transmit Wirelessly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0482" y="4709418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Send data securely to the Blynk IoT cloud platform over Wi-Fi.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4111724"/>
            <a:ext cx="5339919" cy="139154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379308" y="4300736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Alert Early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79308" y="4709418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Identify abnormal environmental conditions early through configurable threshold-based notifications.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07827"/>
            <a:ext cx="1842744" cy="287139"/>
          </a:xfrm>
          <a:prstGeom prst="roundRect">
            <a:avLst>
              <a:gd name="adj" fmla="val 7899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64480"/>
            <a:ext cx="222552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SOLUTION OVERVIEW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705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Our Solution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356682" y="194468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Sensors → ESP32 → Wi-Fi → Blynk Cloud → Mobile Dashboard → Alerts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59732"/>
            <a:ext cx="5434373" cy="7560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482" y="3404791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Sensors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0482" y="3813473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Collect environmental data from tree surroundings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2459732"/>
            <a:ext cx="5434373" cy="7560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84854" y="3404791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ESP32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6284854" y="3813473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Processes readings and manages data flow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304903"/>
            <a:ext cx="5434373" cy="7560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0482" y="5249962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Blynk Cloud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50482" y="5658644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Live readings, graphs, and historical trends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4304903"/>
            <a:ext cx="5434373" cy="75604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84854" y="5249962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Alerts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6284854" y="5658644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Configured thresholds trigger instant notifications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5217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Sensors Used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328837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Professional product photos of the six sensor components used in the system.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80753"/>
            <a:ext cx="1664254" cy="16642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344862"/>
            <a:ext cx="355630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Soil Moisture Sensor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1475" y="3584674"/>
            <a:ext cx="355630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Measures soil moisture levels around the root zone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594" y="1580753"/>
            <a:ext cx="1664353" cy="16643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17594" y="3344962"/>
            <a:ext cx="355640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DHT22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317594" y="3584773"/>
            <a:ext cx="355640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Measures ambient temperature and relative humidity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813" y="1580753"/>
            <a:ext cx="1664353" cy="16643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73813" y="3344962"/>
            <a:ext cx="355640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DS18B20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7973813" y="3584773"/>
            <a:ext cx="355640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Measures soil temperature at root depth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906540"/>
            <a:ext cx="1664254" cy="166429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1475" y="5670649"/>
            <a:ext cx="355630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BH1750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61475" y="5910461"/>
            <a:ext cx="355630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Measures light intensity in lux for photosynthesis monitoring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594" y="3906540"/>
            <a:ext cx="1664353" cy="166439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17594" y="5670748"/>
            <a:ext cx="355640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Rain Sensor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4317594" y="5910560"/>
            <a:ext cx="355640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Detects rainfall and water presence on sensor surface</a:t>
            </a:r>
            <a:endParaRPr lang="en-US" sz="9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3813" y="3906540"/>
            <a:ext cx="1664353" cy="166439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973813" y="5670748"/>
            <a:ext cx="355640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MQ-135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7973813" y="5910560"/>
            <a:ext cx="355640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Indicates air quality and gas changes in the environment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25352"/>
            <a:ext cx="3504219" cy="23347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914698"/>
            <a:ext cx="725469" cy="287139"/>
          </a:xfrm>
          <a:prstGeom prst="roundRect">
            <a:avLst>
              <a:gd name="adj" fmla="val 7899"/>
            </a:avLst>
          </a:prstGeom>
          <a:solidFill>
            <a:srgbClr val="D4F7EC"/>
          </a:solidFill>
          <a:ln/>
        </p:spPr>
      </p:sp>
      <p:sp>
        <p:nvSpPr>
          <p:cNvPr id="4" name="Text 1"/>
          <p:cNvSpPr/>
          <p:nvPr/>
        </p:nvSpPr>
        <p:spPr>
          <a:xfrm>
            <a:off x="4746605" y="971352"/>
            <a:ext cx="110824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STACK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1277441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Hardware &amp; Technology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633201" y="1943695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Main Controller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2427982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ESP32 Development Board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Microcontroller with built-in Wi-Fi that processes sensor data and transmits to Blynk cloud.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633201" y="3221831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Sensors &amp; Components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633201" y="3706118"/>
            <a:ext cx="6903269" cy="67091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Soil Moisture · DHT22 · DS18B20 · BH1750 · Rain Sensor · MQ-135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Breadboard, Jumper Wires, Power Supply (5V / 3.3V)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633201" y="4566047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Software &amp; Platform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4633201" y="5050334"/>
            <a:ext cx="6903269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Arduino IDE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Firmware development and deployment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Blynk IoT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Cloud connectivity and live visualization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Wi-Fi / Internet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Wireless data transmission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2541"/>
            <a:ext cx="1047922" cy="215305"/>
          </a:xfrm>
          <a:prstGeom prst="roundRect">
            <a:avLst>
              <a:gd name="adj" fmla="val 7901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746503" y="685006"/>
            <a:ext cx="148745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00311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System Architecture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242" y="1914029"/>
            <a:ext cx="4529917" cy="35959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20209" y="3509744"/>
            <a:ext cx="814053" cy="372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Real-time Data Flow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21026" y="2119552"/>
            <a:ext cx="1211049" cy="372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Tree / Environment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21026" y="2544790"/>
            <a:ext cx="1211049" cy="390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Source of environmental parameters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502439" y="2091630"/>
            <a:ext cx="1211049" cy="558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Mobile Dashboard &amp; Alerts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502439" y="2703013"/>
            <a:ext cx="1211049" cy="260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 visualization and notifications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02439" y="4640574"/>
            <a:ext cx="1211049" cy="186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Wi-Fi Network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502439" y="4879667"/>
            <a:ext cx="1211049" cy="260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Secure data transmission link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21026" y="4547501"/>
            <a:ext cx="1211049" cy="372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ESP32 Microcontroller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21026" y="4972739"/>
            <a:ext cx="1211049" cy="260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 aggregation and preprocessing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57835" y="3377478"/>
            <a:ext cx="1237522" cy="186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Sensor Layer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957835" y="3616571"/>
            <a:ext cx="1237522" cy="390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Soil, DHT22, DS18B20, BH1750, Rain, MQ-135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059012" y="3356175"/>
            <a:ext cx="1237522" cy="372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Blynk Cloud Platform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059012" y="3781412"/>
            <a:ext cx="1237522" cy="260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Cloud storage and processing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56682" y="5629573"/>
            <a:ext cx="755313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00" i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Real-time environmental data flow from tree surroundings to the user</a:t>
            </a:r>
            <a:endParaRPr lang="en-US" sz="11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8194" y="1603276"/>
            <a:ext cx="3598276" cy="76269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137024" y="1622326"/>
            <a:ext cx="3399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Tree / Environment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8137024" y="1950045"/>
            <a:ext cx="339944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Source of all environmental parameters surrounding the tree</a:t>
            </a:r>
            <a:endParaRPr lang="en-US" sz="11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8194" y="2540496"/>
            <a:ext cx="3598276" cy="76269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137024" y="2559546"/>
            <a:ext cx="3399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Sensor Layer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8137024" y="2887266"/>
            <a:ext cx="339944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Six sensors capture soil, atmospheric, light, rain, and air quality data</a:t>
            </a:r>
            <a:endParaRPr lang="en-US" sz="11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8194" y="3477716"/>
            <a:ext cx="3598276" cy="76269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137024" y="3496766"/>
            <a:ext cx="3399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ESP32 Microcontroller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8137024" y="3824486"/>
            <a:ext cx="339944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Reads, processes, and manages all incoming sensor signals</a:t>
            </a:r>
            <a:endParaRPr lang="en-US" sz="11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38194" y="4414937"/>
            <a:ext cx="3598276" cy="76269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137024" y="4433987"/>
            <a:ext cx="3399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Blynk Cloud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8137024" y="4761706"/>
            <a:ext cx="339944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Receives data over Wi-Fi and stores it for dashboard and alerting</a:t>
            </a:r>
            <a:endParaRPr lang="en-US" sz="11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38194" y="5352157"/>
            <a:ext cx="3598276" cy="76269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137024" y="5371207"/>
            <a:ext cx="3399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Mobile Dashboard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137024" y="5698927"/>
            <a:ext cx="339944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User-facing interface showing live readings, graphs, and alerts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51259"/>
            <a:ext cx="6296860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Working Principle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5233360" y="1192213"/>
            <a:ext cx="3089793" cy="446484"/>
          </a:xfrm>
          <a:prstGeom prst="roundRect">
            <a:avLst>
              <a:gd name="adj" fmla="val 49999"/>
            </a:avLst>
          </a:prstGeom>
          <a:solidFill>
            <a:srgbClr val="F2EEEE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6639" y="1303734"/>
            <a:ext cx="223237" cy="2232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82185" y="1755874"/>
            <a:ext cx="279214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Sense Environment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5382185" y="2058591"/>
            <a:ext cx="2792144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Sensors detect surrounding conditions continuously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8440328" y="1192213"/>
            <a:ext cx="3089892" cy="446484"/>
          </a:xfrm>
          <a:prstGeom prst="roundRect">
            <a:avLst>
              <a:gd name="adj" fmla="val 49999"/>
            </a:avLst>
          </a:prstGeom>
          <a:solidFill>
            <a:srgbClr val="F2EEEE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73606" y="1303734"/>
            <a:ext cx="223237" cy="2232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89152" y="1755874"/>
            <a:ext cx="279224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Collect Data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8589152" y="2058591"/>
            <a:ext cx="2792243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Raw readings gathered from all six sensors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233360" y="2750245"/>
            <a:ext cx="3089793" cy="446484"/>
          </a:xfrm>
          <a:prstGeom prst="roundRect">
            <a:avLst>
              <a:gd name="adj" fmla="val 49999"/>
            </a:avLst>
          </a:prstGeom>
          <a:solidFill>
            <a:srgbClr val="F2EEEE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6639" y="2861766"/>
            <a:ext cx="223237" cy="2232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82185" y="3313906"/>
            <a:ext cx="279214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Process Data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5382185" y="3616623"/>
            <a:ext cx="2792144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ESP32 processes and formats sensor values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8440328" y="2750245"/>
            <a:ext cx="3089892" cy="446484"/>
          </a:xfrm>
          <a:prstGeom prst="roundRect">
            <a:avLst>
              <a:gd name="adj" fmla="val 49999"/>
            </a:avLst>
          </a:prstGeom>
          <a:solidFill>
            <a:srgbClr val="F2EEEE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73606" y="2861766"/>
            <a:ext cx="223237" cy="22324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589152" y="3313906"/>
            <a:ext cx="279224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Send to Cloud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8589152" y="3616623"/>
            <a:ext cx="2792243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 transmitted wirelessly to Blynk platform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5233360" y="4308277"/>
            <a:ext cx="3089793" cy="446484"/>
          </a:xfrm>
          <a:prstGeom prst="roundRect">
            <a:avLst>
              <a:gd name="adj" fmla="val 49999"/>
            </a:avLst>
          </a:prstGeom>
          <a:solidFill>
            <a:srgbClr val="F2EEEE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6639" y="4419798"/>
            <a:ext cx="223237" cy="22324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382185" y="4871938"/>
            <a:ext cx="279214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Monitor &amp; Alert</a:t>
            </a:r>
            <a:endParaRPr lang="en-US" sz="1450" dirty="0"/>
          </a:p>
        </p:txBody>
      </p:sp>
      <p:sp>
        <p:nvSpPr>
          <p:cNvPr id="23" name="Text 15"/>
          <p:cNvSpPr/>
          <p:nvPr/>
        </p:nvSpPr>
        <p:spPr>
          <a:xfrm>
            <a:off x="5382185" y="5174655"/>
            <a:ext cx="2792144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Live dashboard displays readings and fires threshold alerts</a:t>
            </a:r>
            <a:endParaRPr lang="en-US" sz="1150" dirty="0"/>
          </a:p>
        </p:txBody>
      </p:sp>
      <p:sp>
        <p:nvSpPr>
          <p:cNvPr id="24" name="Text 16"/>
          <p:cNvSpPr/>
          <p:nvPr/>
        </p:nvSpPr>
        <p:spPr>
          <a:xfrm>
            <a:off x="5233360" y="5880993"/>
            <a:ext cx="6296860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150" i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TreeGuard continuously converts environmental conditions into real-time data for remote monitoring and early identification of abnormal conditions.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86" y="0"/>
            <a:ext cx="7619809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66738"/>
            <a:ext cx="769918" cy="211832"/>
          </a:xfrm>
          <a:prstGeom prst="roundRect">
            <a:avLst>
              <a:gd name="adj" fmla="val 7905"/>
            </a:avLst>
          </a:prstGeom>
          <a:solidFill>
            <a:srgbClr val="D4F7EC"/>
          </a:solidFill>
          <a:ln/>
        </p:spPr>
      </p:sp>
      <p:sp>
        <p:nvSpPr>
          <p:cNvPr id="4" name="Text 1"/>
          <p:cNvSpPr/>
          <p:nvPr/>
        </p:nvSpPr>
        <p:spPr>
          <a:xfrm>
            <a:off x="745114" y="608509"/>
            <a:ext cx="1212224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PLATFORM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819745"/>
            <a:ext cx="3248936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Blynk IoT Monitoring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078382" y="1894284"/>
            <a:ext cx="283202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Live Dashboard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78382" y="2174081"/>
            <a:ext cx="2832029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Shows real-time sensor values using interactive widgets on mobile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382" y="2816126"/>
            <a:ext cx="283202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Graphs &amp; Trends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78382" y="3095923"/>
            <a:ext cx="2832029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Visualizes sensor history and trend analysis for all parameters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78382" y="3737967"/>
            <a:ext cx="283202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Remote Access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78382" y="4017764"/>
            <a:ext cx="2832029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 tree conditions from anywhere via Internet connectivity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78382" y="4659809"/>
            <a:ext cx="283202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Threshold Alerts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078382" y="4939605"/>
            <a:ext cx="2832029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Sends push notifications when defined conditions are exceeded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61475" y="5443637"/>
            <a:ext cx="3248936" cy="847527"/>
          </a:xfrm>
          <a:prstGeom prst="roundRect">
            <a:avLst>
              <a:gd name="adj" fmla="val 2470"/>
            </a:avLst>
          </a:prstGeom>
          <a:solidFill>
            <a:srgbClr val="D4F7E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973" y="5592663"/>
            <a:ext cx="174422" cy="13950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14893" y="5581452"/>
            <a:ext cx="2656019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Monitored:</a:t>
            </a:r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Temperature · Humidity · Soil Moisture · Soil Temperature · Light Intensity · Rainfall · Air Quality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5285"/>
            <a:ext cx="931542" cy="237827"/>
          </a:xfrm>
          <a:prstGeom prst="roundRect">
            <a:avLst>
              <a:gd name="adj" fmla="val 7898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755333" y="582216"/>
            <a:ext cx="1353409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24905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Experimental Testing &amp; Results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475" y="1638002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Test Scenarios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028329"/>
          <a:ext cx="9143771" cy="914400"/>
        </p:xfrm>
        <a:graphic>
          <a:graphicData uri="http://schemas.openxmlformats.org/drawingml/2006/table">
            <a:tbl>
              <a:tblPr/>
              <a:tblGrid>
                <a:gridCol w="2621740"/>
                <a:gridCol w="2621740"/>
              </a:tblGrid>
              <a:tr h="400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Condition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Observed Behavior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3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Dry Soil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 soil moisture readings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3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Wet Soil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 soil moisture readings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Normal Condition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Normal readings across all sensors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Higher Temperature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Temperature increase detected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Light Exposure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Change in light intensity measured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3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Rain / Water Contact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Rain detection triggered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90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Air Condition Changes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Change in MQ-135 output observed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6531" marR="15653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93089" y="1638002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Expected Results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93089" y="2028329"/>
            <a:ext cx="2556902" cy="1044079"/>
          </a:xfrm>
          <a:prstGeom prst="roundRect">
            <a:avLst>
              <a:gd name="adj" fmla="val 2249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68603" y="2203847"/>
            <a:ext cx="2205875" cy="464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Real-time monitoring of all environmental parameters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979568" y="2028329"/>
            <a:ext cx="2557002" cy="1044079"/>
          </a:xfrm>
          <a:prstGeom prst="roundRect">
            <a:avLst>
              <a:gd name="adj" fmla="val 2249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55082" y="2203847"/>
            <a:ext cx="2205975" cy="693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Wireless data transmission via Wi-Fi to Blynk cloud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93089" y="3201988"/>
            <a:ext cx="2556902" cy="815181"/>
          </a:xfrm>
          <a:prstGeom prst="roundRect">
            <a:avLst>
              <a:gd name="adj" fmla="val 2880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8603" y="3377505"/>
            <a:ext cx="2205875" cy="464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Live visualization and graphical analysis on mobile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79568" y="3201988"/>
            <a:ext cx="2557002" cy="815181"/>
          </a:xfrm>
          <a:prstGeom prst="roundRect">
            <a:avLst>
              <a:gd name="adj" fmla="val 2880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55082" y="3377505"/>
            <a:ext cx="2205975" cy="464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Detection of changing environmental conditions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93089" y="4146748"/>
            <a:ext cx="5243481" cy="586284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68603" y="4322266"/>
            <a:ext cx="4892453" cy="235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Configurable threshold-based alerts for abnormal conditions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329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Conclusion &amp; Future Scope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398091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Achievements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70360"/>
            <a:ext cx="2564443" cy="1774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30242" y="187444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31730" y="2363986"/>
            <a:ext cx="222393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Smart Monitoring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31730" y="2721173"/>
            <a:ext cx="2223933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Continuous monitoring of environmental conditions around trees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6862" y="1770360"/>
            <a:ext cx="2564542" cy="17741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15729" y="187444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3517117" y="2363986"/>
            <a:ext cx="222403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Connected System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3517117" y="2721173"/>
            <a:ext cx="222403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ESP32 collects and transmits data through Wi-Fi to Blynk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665438"/>
            <a:ext cx="2564443" cy="17741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30242" y="3769519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831730" y="4259064"/>
            <a:ext cx="222393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Remote Visibility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31730" y="4616252"/>
            <a:ext cx="2223933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Real-time readings, graphs, and configurable alerts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46862" y="3665438"/>
            <a:ext cx="2564542" cy="177413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515729" y="3769519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3517117" y="4259064"/>
            <a:ext cx="222403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Practical Solution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3517117" y="4616252"/>
            <a:ext cx="2224032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IoT-based approach to smarter environmental monitoring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286640" y="1398091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Future Scope</a:t>
            </a:r>
            <a:endParaRPr lang="en-US" sz="14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640" y="1770360"/>
            <a:ext cx="2564443" cy="155644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55408" y="187444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750" dirty="0"/>
          </a:p>
        </p:txBody>
      </p:sp>
      <p:sp>
        <p:nvSpPr>
          <p:cNvPr id="23" name="Text 16"/>
          <p:cNvSpPr/>
          <p:nvPr/>
        </p:nvSpPr>
        <p:spPr>
          <a:xfrm>
            <a:off x="6456895" y="2363986"/>
            <a:ext cx="222393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AI Prediction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6456895" y="2721173"/>
            <a:ext cx="2223933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ML-based tree health and stress prediction</a:t>
            </a:r>
            <a:endParaRPr lang="en-US" sz="11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72028" y="1770360"/>
            <a:ext cx="2564542" cy="155644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140895" y="187444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750" dirty="0"/>
          </a:p>
        </p:txBody>
      </p:sp>
      <p:sp>
        <p:nvSpPr>
          <p:cNvPr id="27" name="Text 19"/>
          <p:cNvSpPr/>
          <p:nvPr/>
        </p:nvSpPr>
        <p:spPr>
          <a:xfrm>
            <a:off x="9142283" y="2363986"/>
            <a:ext cx="222403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Smart Irrigation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9142283" y="2721173"/>
            <a:ext cx="222403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Automatic irrigation triggered by soil moisture levels</a:t>
            </a:r>
            <a:endParaRPr lang="en-US" sz="11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86640" y="3447752"/>
            <a:ext cx="2564443" cy="155644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455408" y="355183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750" dirty="0"/>
          </a:p>
        </p:txBody>
      </p:sp>
      <p:sp>
        <p:nvSpPr>
          <p:cNvPr id="31" name="Text 22"/>
          <p:cNvSpPr/>
          <p:nvPr/>
        </p:nvSpPr>
        <p:spPr>
          <a:xfrm>
            <a:off x="6456895" y="4041378"/>
            <a:ext cx="222393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Vision Detection</a:t>
            </a:r>
            <a:endParaRPr lang="en-US" sz="1450" dirty="0"/>
          </a:p>
        </p:txBody>
      </p:sp>
      <p:sp>
        <p:nvSpPr>
          <p:cNvPr id="32" name="Text 23"/>
          <p:cNvSpPr/>
          <p:nvPr/>
        </p:nvSpPr>
        <p:spPr>
          <a:xfrm>
            <a:off x="6456895" y="4398566"/>
            <a:ext cx="2223933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Camera and computer vision for disease detection</a:t>
            </a:r>
            <a:endParaRPr lang="en-US" sz="11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972028" y="3447752"/>
            <a:ext cx="2564542" cy="155644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140895" y="355183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1750" dirty="0"/>
          </a:p>
        </p:txBody>
      </p:sp>
      <p:sp>
        <p:nvSpPr>
          <p:cNvPr id="35" name="Text 25"/>
          <p:cNvSpPr/>
          <p:nvPr/>
        </p:nvSpPr>
        <p:spPr>
          <a:xfrm>
            <a:off x="9142283" y="4041378"/>
            <a:ext cx="222403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Large-Scale Monitoring</a:t>
            </a:r>
            <a:endParaRPr lang="en-US" sz="1450" dirty="0"/>
          </a:p>
        </p:txBody>
      </p:sp>
      <p:sp>
        <p:nvSpPr>
          <p:cNvPr id="36" name="Text 26"/>
          <p:cNvSpPr/>
          <p:nvPr/>
        </p:nvSpPr>
        <p:spPr>
          <a:xfrm>
            <a:off x="9142283" y="4398566"/>
            <a:ext cx="222403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GPS-enabled multi-tree monitoring across campuses</a:t>
            </a:r>
            <a:endParaRPr lang="en-US" sz="1150" dirty="0"/>
          </a:p>
        </p:txBody>
      </p:sp>
      <p:sp>
        <p:nvSpPr>
          <p:cNvPr id="37" name="Shape 27"/>
          <p:cNvSpPr/>
          <p:nvPr/>
        </p:nvSpPr>
        <p:spPr>
          <a:xfrm>
            <a:off x="661475" y="5711627"/>
            <a:ext cx="10868745" cy="523081"/>
          </a:xfrm>
          <a:prstGeom prst="roundRect">
            <a:avLst>
              <a:gd name="adj" fmla="val 4336"/>
            </a:avLst>
          </a:prstGeom>
          <a:solidFill>
            <a:srgbClr val="D4F7EC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2680" y="5884069"/>
            <a:ext cx="189007" cy="151209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152893" y="5870377"/>
            <a:ext cx="10835706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TreeGuard transforms traditional tree monitoring into a connected IoT-based monitoring system.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875"/>
            <a:ext cx="10868745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TreeGuard - Connecting Trees with Smart Technology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17575"/>
            <a:ext cx="8127797" cy="5416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7836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247033"/>
            <a:ext cx="10868745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Questions &amp; Discussion</a:t>
            </a:r>
            <a:endParaRPr lang="en-US" sz="1450" dirty="0"/>
          </a:p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We appreciate your time and attention.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Contact: hello@treeguard.com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2026-08-30T19:52:21Z</dcterms:created>
  <dcterms:modified xsi:type="dcterms:W3CDTF">2026-08-30T19:52:21Z</dcterms:modified>
</cp:coreProperties>
</file>